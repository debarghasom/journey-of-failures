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Bodoni FLF" panose="020B0604020202020204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DM Sans" panose="020B0604020202020204" charset="0"/>
      <p:regular r:id="rId30"/>
    </p:embeddedFont>
    <p:embeddedFont>
      <p:font typeface="DM Sans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46557/001c.1749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26257" y="1028700"/>
            <a:ext cx="393304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DM Sans"/>
              </a:rPr>
              <a:t>April 13, 2024.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70946" y="3327821"/>
            <a:ext cx="11478939" cy="390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5000"/>
              </a:lnSpc>
            </a:pPr>
            <a:r>
              <a:rPr lang="en-US" sz="15000" spc="-150">
                <a:solidFill>
                  <a:srgbClr val="000000"/>
                </a:solidFill>
                <a:latin typeface="DM Sans Bold"/>
              </a:rPr>
              <a:t>A Journey Of Failures</a:t>
            </a:r>
          </a:p>
        </p:txBody>
      </p:sp>
      <p:grpSp>
        <p:nvGrpSpPr>
          <p:cNvPr id="4" name="Group 4"/>
          <p:cNvGrpSpPr/>
          <p:nvPr/>
        </p:nvGrpSpPr>
        <p:grpSpPr>
          <a:xfrm rot="580417">
            <a:off x="11352773" y="3646473"/>
            <a:ext cx="6134042" cy="3037525"/>
            <a:chOff x="0" y="0"/>
            <a:chExt cx="8178723" cy="4050033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8178723" cy="4050033"/>
              <a:chOff x="0" y="0"/>
              <a:chExt cx="7620000" cy="474036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383051" cy="4737830"/>
              </a:xfrm>
              <a:custGeom>
                <a:avLst/>
                <a:gdLst/>
                <a:ahLst/>
                <a:cxnLst/>
                <a:rect l="l" t="t" r="r" b="b"/>
                <a:pathLst>
                  <a:path w="8383051" h="4737830">
                    <a:moveTo>
                      <a:pt x="8383051" y="3879309"/>
                    </a:moveTo>
                    <a:lnTo>
                      <a:pt x="8383051" y="222250"/>
                    </a:lnTo>
                    <a:cubicBezTo>
                      <a:pt x="8383051" y="100330"/>
                      <a:pt x="8272673" y="0"/>
                      <a:pt x="8138545" y="0"/>
                    </a:cubicBezTo>
                    <a:lnTo>
                      <a:pt x="244506" y="0"/>
                    </a:lnTo>
                    <a:cubicBezTo>
                      <a:pt x="110377" y="0"/>
                      <a:pt x="0" y="100330"/>
                      <a:pt x="0" y="222250"/>
                    </a:cubicBezTo>
                    <a:lnTo>
                      <a:pt x="0" y="3878040"/>
                    </a:lnTo>
                    <a:cubicBezTo>
                      <a:pt x="0" y="4001230"/>
                      <a:pt x="110377" y="4100290"/>
                      <a:pt x="244506" y="4100290"/>
                    </a:cubicBezTo>
                    <a:lnTo>
                      <a:pt x="3902310" y="4100290"/>
                    </a:lnTo>
                    <a:lnTo>
                      <a:pt x="4190128" y="4737830"/>
                    </a:lnTo>
                    <a:lnTo>
                      <a:pt x="4477946" y="4100290"/>
                    </a:lnTo>
                    <a:lnTo>
                      <a:pt x="8135751" y="4100290"/>
                    </a:lnTo>
                    <a:cubicBezTo>
                      <a:pt x="8272673" y="4101559"/>
                      <a:pt x="8383051" y="4002499"/>
                      <a:pt x="8383051" y="3879309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589850" y="834152"/>
              <a:ext cx="6999026" cy="17953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30"/>
                </a:lnSpc>
              </a:pPr>
              <a:r>
                <a:rPr lang="en-US" sz="2941" dirty="0">
                  <a:solidFill>
                    <a:srgbClr val="FFFFFF"/>
                  </a:solidFill>
                  <a:latin typeface="DM Sans"/>
                </a:rPr>
                <a:t>A</a:t>
              </a:r>
            </a:p>
            <a:p>
              <a:pPr algn="ctr">
                <a:lnSpc>
                  <a:spcPts val="3530"/>
                </a:lnSpc>
              </a:pPr>
              <a:r>
                <a:rPr lang="en-US" sz="2941" dirty="0">
                  <a:solidFill>
                    <a:srgbClr val="FFFFFF"/>
                  </a:solidFill>
                  <a:latin typeface="DM Sans"/>
                </a:rPr>
                <a:t>Presentation by</a:t>
              </a:r>
            </a:p>
            <a:p>
              <a:pPr algn="ctr">
                <a:lnSpc>
                  <a:spcPts val="3530"/>
                </a:lnSpc>
              </a:pPr>
              <a:r>
                <a:rPr lang="en-US" sz="2942" dirty="0">
                  <a:solidFill>
                    <a:srgbClr val="FFFFFF"/>
                  </a:solidFill>
                  <a:latin typeface="DM Sans"/>
                </a:rPr>
                <a:t>Debargha Som (231720012)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32208" y="3147351"/>
            <a:ext cx="10423585" cy="3992298"/>
            <a:chOff x="0" y="0"/>
            <a:chExt cx="2745306" cy="1051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306" cy="1051470"/>
            </a:xfrm>
            <a:custGeom>
              <a:avLst/>
              <a:gdLst/>
              <a:ahLst/>
              <a:cxnLst/>
              <a:rect l="l" t="t" r="r" b="b"/>
              <a:pathLst>
                <a:path w="2745306" h="1051470">
                  <a:moveTo>
                    <a:pt x="0" y="0"/>
                  </a:moveTo>
                  <a:lnTo>
                    <a:pt x="2745306" y="0"/>
                  </a:lnTo>
                  <a:lnTo>
                    <a:pt x="2745306" y="1051470"/>
                  </a:lnTo>
                  <a:lnTo>
                    <a:pt x="0" y="1051470"/>
                  </a:lnTo>
                  <a:close/>
                </a:path>
              </a:pathLst>
            </a:custGeom>
            <a:solidFill>
              <a:srgbClr val="001C8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2745306" cy="1156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00"/>
                </a:lnSpc>
              </a:pPr>
              <a:r>
                <a:rPr lang="en-US" sz="12000">
                  <a:solidFill>
                    <a:srgbClr val="FFFFFF"/>
                  </a:solidFill>
                  <a:latin typeface="Bodoni FLF"/>
                </a:rPr>
                <a:t>FAILURE  # 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92439"/>
            <a:ext cx="9712272" cy="7465861"/>
          </a:xfrm>
          <a:custGeom>
            <a:avLst/>
            <a:gdLst/>
            <a:ahLst/>
            <a:cxnLst/>
            <a:rect l="l" t="t" r="r" b="b"/>
            <a:pathLst>
              <a:path w="9712272" h="7465861">
                <a:moveTo>
                  <a:pt x="0" y="0"/>
                </a:moveTo>
                <a:lnTo>
                  <a:pt x="9712272" y="0"/>
                </a:lnTo>
                <a:lnTo>
                  <a:pt x="9712272" y="7465861"/>
                </a:lnTo>
                <a:lnTo>
                  <a:pt x="0" y="7465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7" r="-201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233180" y="2965289"/>
            <a:ext cx="6026120" cy="3286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761"/>
              </a:lnSpc>
            </a:pPr>
            <a:r>
              <a:rPr lang="en-US" sz="2686">
                <a:solidFill>
                  <a:srgbClr val="000000"/>
                </a:solidFill>
                <a:latin typeface="DM Sans Bold"/>
              </a:rPr>
              <a:t>Ertuğrul, H. M., Güngör, B. O., &amp; Soytaş, U. (2020). The Effect of the COVID-19 Outbreak on the Turkish Diesel Consumption Volatility Dynamics. Energy RESEARCH LETTERS, 1(3). </a:t>
            </a:r>
            <a:r>
              <a:rPr lang="en-US" sz="2686" u="sng">
                <a:solidFill>
                  <a:srgbClr val="000000"/>
                </a:solidFill>
                <a:latin typeface="DM Sans Bold"/>
                <a:hlinkClick r:id="rId3" tooltip="https://doi.org/10.46557/001c.17496"/>
              </a:rPr>
              <a:t>https://doi.org/10.46557/001c.17496</a:t>
            </a:r>
            <a:r>
              <a:rPr lang="en-US" sz="2686">
                <a:solidFill>
                  <a:srgbClr val="000000"/>
                </a:solidFill>
                <a:latin typeface="DM Sans Bold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88707"/>
            <a:ext cx="7722354" cy="114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en-US" sz="8000">
                <a:solidFill>
                  <a:srgbClr val="001C84"/>
                </a:solidFill>
                <a:latin typeface="DM Sans Bold"/>
              </a:rPr>
              <a:t>Our First paper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32208" y="3147351"/>
            <a:ext cx="10423585" cy="3992298"/>
            <a:chOff x="0" y="0"/>
            <a:chExt cx="2745306" cy="1051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306" cy="1051470"/>
            </a:xfrm>
            <a:custGeom>
              <a:avLst/>
              <a:gdLst/>
              <a:ahLst/>
              <a:cxnLst/>
              <a:rect l="l" t="t" r="r" b="b"/>
              <a:pathLst>
                <a:path w="2745306" h="1051470">
                  <a:moveTo>
                    <a:pt x="0" y="0"/>
                  </a:moveTo>
                  <a:lnTo>
                    <a:pt x="2745306" y="0"/>
                  </a:lnTo>
                  <a:lnTo>
                    <a:pt x="2745306" y="1051470"/>
                  </a:lnTo>
                  <a:lnTo>
                    <a:pt x="0" y="1051470"/>
                  </a:lnTo>
                  <a:close/>
                </a:path>
              </a:pathLst>
            </a:custGeom>
            <a:solidFill>
              <a:srgbClr val="001C8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2745306" cy="1156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00"/>
                </a:lnSpc>
              </a:pPr>
              <a:r>
                <a:rPr lang="en-US" sz="12000">
                  <a:solidFill>
                    <a:srgbClr val="FFFFFF"/>
                  </a:solidFill>
                  <a:latin typeface="Bodoni FLF"/>
                </a:rPr>
                <a:t>FAILURE # 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635368"/>
            <a:ext cx="9297420" cy="7570082"/>
          </a:xfrm>
          <a:custGeom>
            <a:avLst/>
            <a:gdLst/>
            <a:ahLst/>
            <a:cxnLst/>
            <a:rect l="l" t="t" r="r" b="b"/>
            <a:pathLst>
              <a:path w="9297420" h="7570082">
                <a:moveTo>
                  <a:pt x="0" y="0"/>
                </a:moveTo>
                <a:lnTo>
                  <a:pt x="9297420" y="0"/>
                </a:lnTo>
                <a:lnTo>
                  <a:pt x="9297420" y="7570083"/>
                </a:lnTo>
                <a:lnTo>
                  <a:pt x="0" y="7570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134739" y="3152269"/>
            <a:ext cx="6124561" cy="2813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761"/>
              </a:lnSpc>
            </a:pPr>
            <a:r>
              <a:rPr lang="en-US" sz="2686">
                <a:solidFill>
                  <a:srgbClr val="000000"/>
                </a:solidFill>
                <a:latin typeface="DM Sans Bold"/>
              </a:rPr>
              <a:t>Monge, M., &amp; Infante, J. (2023). A Fractional ARIMA (ARFIMA) Model in the Analysis of Historical Crude Oil Prices. Energy RESEARCH LETTERS, 4(1). https://doi.org/10.46557/001c.36578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88707"/>
            <a:ext cx="9297420" cy="114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en-US" sz="8000">
                <a:solidFill>
                  <a:srgbClr val="001C84"/>
                </a:solidFill>
                <a:latin typeface="DM Sans Bold"/>
              </a:rPr>
              <a:t>Our Second paper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3049" y="1793992"/>
            <a:ext cx="15581903" cy="1898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0"/>
              </a:lnSpc>
            </a:pPr>
            <a:r>
              <a:rPr lang="en-US" sz="6782">
                <a:solidFill>
                  <a:srgbClr val="001C84"/>
                </a:solidFill>
                <a:latin typeface="DM Sans Bold"/>
              </a:rPr>
              <a:t>What Is an Autoregressive Integrated Moving Average (AR-I-MA)?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83574" y="4671177"/>
            <a:ext cx="13920852" cy="164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82"/>
              </a:lnSpc>
              <a:spcBef>
                <a:spcPct val="0"/>
              </a:spcBef>
            </a:pPr>
            <a:r>
              <a:rPr lang="en-US" sz="3130">
                <a:solidFill>
                  <a:srgbClr val="000000"/>
                </a:solidFill>
                <a:latin typeface="DM Sans"/>
              </a:rPr>
              <a:t>An autoregressive integrated moving average, or ARIMA, is a statistical analysis model that uses time series data to either better understand the data set or to predict future trends.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220200"/>
            <a:ext cx="14600116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DM Sans"/>
              </a:rPr>
              <a:t>Ref: https://www.investopedia.com/terms/a/autoregressive-integrated-moving-average-arima.asp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06428" y="2810310"/>
            <a:ext cx="11826446" cy="3289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2659">
                <a:solidFill>
                  <a:srgbClr val="000000"/>
                </a:solidFill>
                <a:latin typeface="DM Sans"/>
              </a:rPr>
              <a:t>In the ARIMA process to have the “d” value become a non-integer value, i.e., generalized the ARIMA model to make it have the differencing degree to be fractional values.</a:t>
            </a:r>
          </a:p>
          <a:p>
            <a:pPr algn="ctr">
              <a:lnSpc>
                <a:spcPts val="3723"/>
              </a:lnSpc>
            </a:pPr>
            <a:r>
              <a:rPr lang="en-US" sz="2659">
                <a:solidFill>
                  <a:srgbClr val="000000"/>
                </a:solidFill>
                <a:latin typeface="DM Sans"/>
              </a:rPr>
              <a:t>The main model’s purpose is to account for the persistence of memory that we find in economic and financial prices in levels while estimating an ARMA model on them.</a:t>
            </a:r>
          </a:p>
          <a:p>
            <a:pPr algn="ctr">
              <a:lnSpc>
                <a:spcPts val="3723"/>
              </a:lnSpc>
              <a:spcBef>
                <a:spcPct val="0"/>
              </a:spcBef>
            </a:pPr>
            <a:endParaRPr lang="en-US" sz="2659">
              <a:solidFill>
                <a:srgbClr val="000000"/>
              </a:solidFill>
              <a:latin typeface="DM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022148" y="6900327"/>
            <a:ext cx="10243703" cy="791098"/>
          </a:xfrm>
          <a:custGeom>
            <a:avLst/>
            <a:gdLst/>
            <a:ahLst/>
            <a:cxnLst/>
            <a:rect l="l" t="t" r="r" b="b"/>
            <a:pathLst>
              <a:path w="10243703" h="791098">
                <a:moveTo>
                  <a:pt x="0" y="0"/>
                </a:moveTo>
                <a:lnTo>
                  <a:pt x="10243704" y="0"/>
                </a:lnTo>
                <a:lnTo>
                  <a:pt x="10243704" y="791098"/>
                </a:lnTo>
                <a:lnTo>
                  <a:pt x="0" y="791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104900"/>
            <a:ext cx="15581903" cy="95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0"/>
              </a:lnSpc>
            </a:pPr>
            <a:r>
              <a:rPr lang="en-US" sz="6782">
                <a:solidFill>
                  <a:srgbClr val="001C84"/>
                </a:solidFill>
                <a:latin typeface="DM Sans Bold"/>
              </a:rPr>
              <a:t>AR-FI-MA?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77200"/>
            <a:ext cx="11982130" cy="2500117"/>
          </a:xfrm>
          <a:custGeom>
            <a:avLst/>
            <a:gdLst/>
            <a:ahLst/>
            <a:cxnLst/>
            <a:rect l="l" t="t" r="r" b="b"/>
            <a:pathLst>
              <a:path w="11982130" h="2500117">
                <a:moveTo>
                  <a:pt x="0" y="0"/>
                </a:moveTo>
                <a:lnTo>
                  <a:pt x="11982130" y="0"/>
                </a:lnTo>
                <a:lnTo>
                  <a:pt x="11982130" y="2500117"/>
                </a:lnTo>
                <a:lnTo>
                  <a:pt x="0" y="2500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305326" y="4624956"/>
            <a:ext cx="11953974" cy="4519044"/>
          </a:xfrm>
          <a:custGeom>
            <a:avLst/>
            <a:gdLst/>
            <a:ahLst/>
            <a:cxnLst/>
            <a:rect l="l" t="t" r="r" b="b"/>
            <a:pathLst>
              <a:path w="11953974" h="4519044">
                <a:moveTo>
                  <a:pt x="0" y="0"/>
                </a:moveTo>
                <a:lnTo>
                  <a:pt x="11953974" y="0"/>
                </a:lnTo>
                <a:lnTo>
                  <a:pt x="11953974" y="4519044"/>
                </a:lnTo>
                <a:lnTo>
                  <a:pt x="0" y="4519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589740"/>
            <a:ext cx="8838649" cy="95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0"/>
              </a:lnSpc>
            </a:pPr>
            <a:r>
              <a:rPr lang="en-US" sz="6782">
                <a:solidFill>
                  <a:srgbClr val="001C84"/>
                </a:solidFill>
                <a:latin typeface="DM Sans Bold"/>
              </a:rPr>
              <a:t>So What Happened?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458325"/>
            <a:ext cx="1392606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DM Sans"/>
              </a:rPr>
              <a:t>Soruce: Monge, M., &amp; Infante, J. (2023). A Fractional ARIMA (ARFIMA) Model in the Analysis of Historical Crude Oil Prices. Energy RESEARCH LETTERS, 4(1). https://doi.org/10.46557/001c.36578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32208" y="2759326"/>
            <a:ext cx="10423585" cy="4768347"/>
            <a:chOff x="0" y="0"/>
            <a:chExt cx="2745306" cy="12558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306" cy="1255861"/>
            </a:xfrm>
            <a:custGeom>
              <a:avLst/>
              <a:gdLst/>
              <a:ahLst/>
              <a:cxnLst/>
              <a:rect l="l" t="t" r="r" b="b"/>
              <a:pathLst>
                <a:path w="2745306" h="1255861">
                  <a:moveTo>
                    <a:pt x="0" y="0"/>
                  </a:moveTo>
                  <a:lnTo>
                    <a:pt x="2745306" y="0"/>
                  </a:lnTo>
                  <a:lnTo>
                    <a:pt x="2745306" y="1255861"/>
                  </a:lnTo>
                  <a:lnTo>
                    <a:pt x="0" y="1255861"/>
                  </a:lnTo>
                  <a:close/>
                </a:path>
              </a:pathLst>
            </a:custGeom>
            <a:solidFill>
              <a:srgbClr val="001C8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2745306" cy="1341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999"/>
                </a:lnSpc>
              </a:pPr>
              <a:r>
                <a:rPr lang="en-US" sz="9999">
                  <a:solidFill>
                    <a:srgbClr val="FFFFFF"/>
                  </a:solidFill>
                  <a:latin typeface="Bodoni FLF"/>
                </a:rPr>
                <a:t>FAILURE # 3?</a:t>
              </a:r>
            </a:p>
            <a:p>
              <a:pPr algn="ctr">
                <a:lnSpc>
                  <a:spcPts val="11999"/>
                </a:lnSpc>
              </a:pPr>
              <a:r>
                <a:rPr lang="en-US" sz="9999">
                  <a:solidFill>
                    <a:srgbClr val="FFFFFF"/>
                  </a:solidFill>
                  <a:latin typeface="Bodoni FLF"/>
                </a:rPr>
                <a:t>(Not Really!)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635368"/>
            <a:ext cx="9591784" cy="8274311"/>
          </a:xfrm>
          <a:custGeom>
            <a:avLst/>
            <a:gdLst/>
            <a:ahLst/>
            <a:cxnLst/>
            <a:rect l="l" t="t" r="r" b="b"/>
            <a:pathLst>
              <a:path w="9591784" h="8274311">
                <a:moveTo>
                  <a:pt x="0" y="0"/>
                </a:moveTo>
                <a:lnTo>
                  <a:pt x="9591784" y="0"/>
                </a:lnTo>
                <a:lnTo>
                  <a:pt x="9591784" y="8274311"/>
                </a:lnTo>
                <a:lnTo>
                  <a:pt x="0" y="8274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95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620484" y="3476584"/>
            <a:ext cx="6638816" cy="3286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761"/>
              </a:lnSpc>
            </a:pPr>
            <a:r>
              <a:rPr lang="en-US" sz="2686">
                <a:solidFill>
                  <a:srgbClr val="000000"/>
                </a:solidFill>
                <a:latin typeface="DM Sans Bold"/>
              </a:rPr>
              <a:t>Vijh, M., Chandola, D., Tikkiwal, V. A., Kumar, A., (2020). Stock Closing Price Prediction using Machine Learning Techniques. Procedia Computer Science, 167, pp. 599-606. https://doi.org/10.1016/j.procs.2020.03.326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88707"/>
            <a:ext cx="9297420" cy="114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en-US" sz="8000">
                <a:solidFill>
                  <a:srgbClr val="001C84"/>
                </a:solidFill>
                <a:latin typeface="DM Sans Bold"/>
              </a:rPr>
              <a:t>Finally Our Paper!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19390" y="2513293"/>
            <a:ext cx="6644388" cy="3370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en-US" sz="8000">
                <a:solidFill>
                  <a:srgbClr val="001C84"/>
                </a:solidFill>
                <a:latin typeface="DM Sans Bold"/>
              </a:rPr>
              <a:t>The first step to any ML model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706730" y="3460671"/>
            <a:ext cx="726781" cy="726781"/>
            <a:chOff x="0" y="0"/>
            <a:chExt cx="969042" cy="96904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706730" y="6427151"/>
            <a:ext cx="726781" cy="726781"/>
            <a:chOff x="0" y="0"/>
            <a:chExt cx="969042" cy="96904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904525" y="3182712"/>
            <a:ext cx="6221800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DM Sans"/>
              </a:rPr>
              <a:t>Training Data:  </a:t>
            </a:r>
          </a:p>
          <a:p>
            <a:pPr marL="0" lvl="0" indent="0"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3131"/>
                </a:solidFill>
                <a:latin typeface="DM Sans"/>
              </a:rPr>
              <a:t>2009-05-05</a:t>
            </a:r>
            <a:r>
              <a:rPr lang="en-US" sz="3499">
                <a:solidFill>
                  <a:srgbClr val="000000"/>
                </a:solidFill>
                <a:latin typeface="DM Sans"/>
              </a:rPr>
              <a:t> to </a:t>
            </a:r>
            <a:r>
              <a:rPr lang="en-US" sz="3499">
                <a:solidFill>
                  <a:srgbClr val="FF3131"/>
                </a:solidFill>
                <a:latin typeface="DM Sans"/>
              </a:rPr>
              <a:t>2017-04-03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04525" y="6175862"/>
            <a:ext cx="5637490" cy="1162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DM Sans"/>
              </a:rPr>
              <a:t>Test Data: 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DM Sans"/>
              </a:rPr>
              <a:t>2017-04-04</a:t>
            </a:r>
            <a:r>
              <a:rPr lang="en-US" sz="3399">
                <a:solidFill>
                  <a:srgbClr val="000000"/>
                </a:solidFill>
                <a:latin typeface="DM Sans"/>
              </a:rPr>
              <a:t> to </a:t>
            </a:r>
            <a:r>
              <a:rPr lang="en-US" sz="3399">
                <a:solidFill>
                  <a:srgbClr val="FF3131"/>
                </a:solidFill>
                <a:latin typeface="DM Sans"/>
              </a:rPr>
              <a:t>2019-04-05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10799" y="1028700"/>
            <a:ext cx="726781" cy="726781"/>
            <a:chOff x="0" y="0"/>
            <a:chExt cx="969042" cy="96904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22434" y="4474373"/>
            <a:ext cx="6333575" cy="2252806"/>
            <a:chOff x="0" y="0"/>
            <a:chExt cx="8444766" cy="3003742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8444766" cy="3003742"/>
              <a:chOff x="0" y="0"/>
              <a:chExt cx="7620000" cy="271037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620000" cy="2707839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2707839">
                    <a:moveTo>
                      <a:pt x="7620000" y="1849319"/>
                    </a:moveTo>
                    <a:lnTo>
                      <a:pt x="7620000" y="222250"/>
                    </a:lnTo>
                    <a:cubicBezTo>
                      <a:pt x="7620000" y="100330"/>
                      <a:pt x="7519670" y="0"/>
                      <a:pt x="7397750" y="0"/>
                    </a:cubicBezTo>
                    <a:lnTo>
                      <a:pt x="222250" y="0"/>
                    </a:lnTo>
                    <a:cubicBezTo>
                      <a:pt x="100330" y="0"/>
                      <a:pt x="0" y="100330"/>
                      <a:pt x="0" y="222250"/>
                    </a:cubicBezTo>
                    <a:lnTo>
                      <a:pt x="0" y="1848049"/>
                    </a:lnTo>
                    <a:cubicBezTo>
                      <a:pt x="0" y="1971239"/>
                      <a:pt x="100330" y="2070299"/>
                      <a:pt x="222250" y="2070299"/>
                    </a:cubicBezTo>
                    <a:lnTo>
                      <a:pt x="3547110" y="2070299"/>
                    </a:lnTo>
                    <a:lnTo>
                      <a:pt x="3808730" y="2707839"/>
                    </a:lnTo>
                    <a:lnTo>
                      <a:pt x="4070350" y="2070299"/>
                    </a:lnTo>
                    <a:lnTo>
                      <a:pt x="7395210" y="2070299"/>
                    </a:lnTo>
                    <a:cubicBezTo>
                      <a:pt x="7519670" y="2071569"/>
                      <a:pt x="7620000" y="1972509"/>
                      <a:pt x="7620000" y="1849319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893578" y="374668"/>
              <a:ext cx="6657610" cy="1551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00"/>
                </a:lnSpc>
              </a:pPr>
              <a:r>
                <a:rPr lang="en-US" sz="8000">
                  <a:solidFill>
                    <a:srgbClr val="FFFFFF"/>
                  </a:solidFill>
                  <a:latin typeface="DM Sans Bold"/>
                </a:rPr>
                <a:t>Features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110799" y="2614493"/>
            <a:ext cx="726781" cy="726781"/>
            <a:chOff x="0" y="0"/>
            <a:chExt cx="969042" cy="96904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10799" y="4198524"/>
            <a:ext cx="726781" cy="726781"/>
            <a:chOff x="0" y="0"/>
            <a:chExt cx="969042" cy="969042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110799" y="5600776"/>
            <a:ext cx="726781" cy="726781"/>
            <a:chOff x="0" y="0"/>
            <a:chExt cx="969042" cy="96904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4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176990" y="1085068"/>
            <a:ext cx="5156972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DM Sans"/>
              </a:rPr>
              <a:t>High minus Low Price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76990" y="2670861"/>
            <a:ext cx="5156972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DM Sans"/>
              </a:rPr>
              <a:t>Close minus Open Price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76990" y="4257726"/>
            <a:ext cx="5156972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DM Sans"/>
              </a:rPr>
              <a:t>7 days Moving Average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76990" y="5657144"/>
            <a:ext cx="5156972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DM Sans"/>
              </a:rPr>
              <a:t>14 days Moving Average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110799" y="7003832"/>
            <a:ext cx="726781" cy="726781"/>
            <a:chOff x="0" y="0"/>
            <a:chExt cx="969042" cy="969042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5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110799" y="8406889"/>
            <a:ext cx="726781" cy="726781"/>
            <a:chOff x="0" y="0"/>
            <a:chExt cx="969042" cy="969042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6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76990" y="7060200"/>
            <a:ext cx="5156972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DM Sans"/>
              </a:rPr>
              <a:t>21 days Moving Average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176990" y="8202883"/>
            <a:ext cx="5156972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DM Sans"/>
              </a:rPr>
              <a:t>7 days Standard Deviation days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52903" y="5900482"/>
            <a:ext cx="955513" cy="544564"/>
          </a:xfrm>
          <a:custGeom>
            <a:avLst/>
            <a:gdLst/>
            <a:ahLst/>
            <a:cxnLst/>
            <a:rect l="l" t="t" r="r" b="b"/>
            <a:pathLst>
              <a:path w="955513" h="544564">
                <a:moveTo>
                  <a:pt x="0" y="0"/>
                </a:moveTo>
                <a:lnTo>
                  <a:pt x="955513" y="0"/>
                </a:lnTo>
                <a:lnTo>
                  <a:pt x="955513" y="544565"/>
                </a:lnTo>
                <a:lnTo>
                  <a:pt x="0" y="544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10" r="-789" b="-60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99852" y="5602825"/>
            <a:ext cx="794377" cy="578692"/>
          </a:xfrm>
          <a:custGeom>
            <a:avLst/>
            <a:gdLst/>
            <a:ahLst/>
            <a:cxnLst/>
            <a:rect l="l" t="t" r="r" b="b"/>
            <a:pathLst>
              <a:path w="794377" h="578692">
                <a:moveTo>
                  <a:pt x="0" y="0"/>
                </a:moveTo>
                <a:lnTo>
                  <a:pt x="794376" y="0"/>
                </a:lnTo>
                <a:lnTo>
                  <a:pt x="794376" y="578691"/>
                </a:lnTo>
                <a:lnTo>
                  <a:pt x="0" y="578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822" r="-100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43620" y="2827009"/>
            <a:ext cx="10459642" cy="7248946"/>
          </a:xfrm>
          <a:custGeom>
            <a:avLst/>
            <a:gdLst/>
            <a:ahLst/>
            <a:cxnLst/>
            <a:rect l="l" t="t" r="r" b="b"/>
            <a:pathLst>
              <a:path w="10459642" h="7248946">
                <a:moveTo>
                  <a:pt x="0" y="0"/>
                </a:moveTo>
                <a:lnTo>
                  <a:pt x="10459642" y="0"/>
                </a:lnTo>
                <a:lnTo>
                  <a:pt x="10459642" y="7248945"/>
                </a:lnTo>
                <a:lnTo>
                  <a:pt x="0" y="7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5" b="-332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857369"/>
            <a:ext cx="8868340" cy="1969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700"/>
              </a:lnSpc>
            </a:pPr>
            <a:r>
              <a:rPr lang="en-US" sz="7000">
                <a:solidFill>
                  <a:srgbClr val="001C84"/>
                </a:solidFill>
                <a:latin typeface="DM Sans Bold"/>
              </a:rPr>
              <a:t>Neural Network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9720" y="4929794"/>
            <a:ext cx="7145881" cy="2930502"/>
          </a:xfrm>
          <a:custGeom>
            <a:avLst/>
            <a:gdLst/>
            <a:ahLst/>
            <a:cxnLst/>
            <a:rect l="l" t="t" r="r" b="b"/>
            <a:pathLst>
              <a:path w="7145881" h="2930502">
                <a:moveTo>
                  <a:pt x="0" y="0"/>
                </a:moveTo>
                <a:lnTo>
                  <a:pt x="7145881" y="0"/>
                </a:lnTo>
                <a:lnTo>
                  <a:pt x="7145881" y="2930502"/>
                </a:lnTo>
                <a:lnTo>
                  <a:pt x="0" y="2930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23067" y="1028700"/>
            <a:ext cx="8279334" cy="8490137"/>
          </a:xfrm>
          <a:custGeom>
            <a:avLst/>
            <a:gdLst/>
            <a:ahLst/>
            <a:cxnLst/>
            <a:rect l="l" t="t" r="r" b="b"/>
            <a:pathLst>
              <a:path w="8279334" h="8490137">
                <a:moveTo>
                  <a:pt x="0" y="0"/>
                </a:moveTo>
                <a:lnTo>
                  <a:pt x="8279333" y="0"/>
                </a:lnTo>
                <a:lnTo>
                  <a:pt x="8279333" y="8490137"/>
                </a:lnTo>
                <a:lnTo>
                  <a:pt x="0" y="8490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098" t="-8783" r="-14489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09720" y="1028700"/>
            <a:ext cx="6644388" cy="4478751"/>
            <a:chOff x="0" y="0"/>
            <a:chExt cx="8859184" cy="5971668"/>
          </a:xfrm>
        </p:grpSpPr>
        <p:sp>
          <p:nvSpPr>
            <p:cNvPr id="5" name="TextBox 5"/>
            <p:cNvSpPr txBox="1"/>
            <p:nvPr/>
          </p:nvSpPr>
          <p:spPr>
            <a:xfrm>
              <a:off x="0" y="5446523"/>
              <a:ext cx="8859184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359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8859184" cy="4515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800"/>
                </a:lnSpc>
              </a:pPr>
              <a:r>
                <a:rPr lang="en-US" sz="8000">
                  <a:solidFill>
                    <a:srgbClr val="001C84"/>
                  </a:solidFill>
                  <a:latin typeface="DM Sans Bold"/>
                </a:rPr>
                <a:t>Activation Function-ELU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802052"/>
            <a:ext cx="8922506" cy="7052052"/>
          </a:xfrm>
          <a:custGeom>
            <a:avLst/>
            <a:gdLst/>
            <a:ahLst/>
            <a:cxnLst/>
            <a:rect l="l" t="t" r="r" b="b"/>
            <a:pathLst>
              <a:path w="8922506" h="7052052">
                <a:moveTo>
                  <a:pt x="0" y="0"/>
                </a:moveTo>
                <a:lnTo>
                  <a:pt x="8922506" y="0"/>
                </a:lnTo>
                <a:lnTo>
                  <a:pt x="8922506" y="7052052"/>
                </a:lnTo>
                <a:lnTo>
                  <a:pt x="0" y="705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43" t="-13261" r="-555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1974325"/>
            <a:ext cx="8767791" cy="6879779"/>
          </a:xfrm>
          <a:custGeom>
            <a:avLst/>
            <a:gdLst/>
            <a:ahLst/>
            <a:cxnLst/>
            <a:rect l="l" t="t" r="r" b="b"/>
            <a:pathLst>
              <a:path w="8767791" h="6879779">
                <a:moveTo>
                  <a:pt x="0" y="0"/>
                </a:moveTo>
                <a:lnTo>
                  <a:pt x="8767791" y="0"/>
                </a:lnTo>
                <a:lnTo>
                  <a:pt x="8767791" y="6879779"/>
                </a:lnTo>
                <a:lnTo>
                  <a:pt x="0" y="6879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99" t="-13825" r="-864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659368" y="176541"/>
            <a:ext cx="13461473" cy="2255278"/>
            <a:chOff x="0" y="0"/>
            <a:chExt cx="17948630" cy="3007038"/>
          </a:xfrm>
        </p:grpSpPr>
        <p:sp>
          <p:nvSpPr>
            <p:cNvPr id="5" name="TextBox 5"/>
            <p:cNvSpPr txBox="1"/>
            <p:nvPr/>
          </p:nvSpPr>
          <p:spPr>
            <a:xfrm>
              <a:off x="0" y="2481893"/>
              <a:ext cx="1794863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359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17948630" cy="1551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800"/>
                </a:lnSpc>
              </a:pPr>
              <a:r>
                <a:rPr lang="en-US" sz="8000">
                  <a:solidFill>
                    <a:srgbClr val="001C84"/>
                  </a:solidFill>
                  <a:latin typeface="DM Sans Bold"/>
                </a:rPr>
                <a:t>ANN vs RF: Goldman Sachs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11876" y="339608"/>
            <a:ext cx="5903221" cy="4610967"/>
          </a:xfrm>
          <a:custGeom>
            <a:avLst/>
            <a:gdLst/>
            <a:ahLst/>
            <a:cxnLst/>
            <a:rect l="l" t="t" r="r" b="b"/>
            <a:pathLst>
              <a:path w="5903221" h="4610967">
                <a:moveTo>
                  <a:pt x="0" y="0"/>
                </a:moveTo>
                <a:lnTo>
                  <a:pt x="5903221" y="0"/>
                </a:lnTo>
                <a:lnTo>
                  <a:pt x="5903221" y="4610967"/>
                </a:lnTo>
                <a:lnTo>
                  <a:pt x="0" y="4610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67" t="-15632" r="-12210" b="-1462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11876" y="5143500"/>
            <a:ext cx="5903221" cy="4629201"/>
          </a:xfrm>
          <a:custGeom>
            <a:avLst/>
            <a:gdLst/>
            <a:ahLst/>
            <a:cxnLst/>
            <a:rect l="l" t="t" r="r" b="b"/>
            <a:pathLst>
              <a:path w="5903221" h="4629201">
                <a:moveTo>
                  <a:pt x="0" y="0"/>
                </a:moveTo>
                <a:lnTo>
                  <a:pt x="5903221" y="0"/>
                </a:lnTo>
                <a:lnTo>
                  <a:pt x="5903221" y="4629201"/>
                </a:lnTo>
                <a:lnTo>
                  <a:pt x="0" y="4629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22" t="-15632" r="-12258" b="-1462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9533" y="339608"/>
            <a:ext cx="5789428" cy="4610967"/>
          </a:xfrm>
          <a:custGeom>
            <a:avLst/>
            <a:gdLst/>
            <a:ahLst/>
            <a:cxnLst/>
            <a:rect l="l" t="t" r="r" b="b"/>
            <a:pathLst>
              <a:path w="5789428" h="4610967">
                <a:moveTo>
                  <a:pt x="0" y="0"/>
                </a:moveTo>
                <a:lnTo>
                  <a:pt x="5789428" y="0"/>
                </a:lnTo>
                <a:lnTo>
                  <a:pt x="5789428" y="4610967"/>
                </a:lnTo>
                <a:lnTo>
                  <a:pt x="0" y="46109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992" t="-15618" r="-12438" b="-1338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19533" y="5143500"/>
            <a:ext cx="5792250" cy="4629201"/>
          </a:xfrm>
          <a:custGeom>
            <a:avLst/>
            <a:gdLst/>
            <a:ahLst/>
            <a:cxnLst/>
            <a:rect l="l" t="t" r="r" b="b"/>
            <a:pathLst>
              <a:path w="5792250" h="4629201">
                <a:moveTo>
                  <a:pt x="0" y="0"/>
                </a:moveTo>
                <a:lnTo>
                  <a:pt x="5792250" y="0"/>
                </a:lnTo>
                <a:lnTo>
                  <a:pt x="5792250" y="4629201"/>
                </a:lnTo>
                <a:lnTo>
                  <a:pt x="0" y="4629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880" t="-14902" r="-12307" b="-1341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827498" y="1265044"/>
            <a:ext cx="3465841" cy="1841136"/>
            <a:chOff x="0" y="0"/>
            <a:chExt cx="4621121" cy="245484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4621121" cy="2454847"/>
              <a:chOff x="0" y="0"/>
              <a:chExt cx="7620000" cy="404792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620000" cy="4045383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4045383">
                    <a:moveTo>
                      <a:pt x="7620000" y="3186862"/>
                    </a:moveTo>
                    <a:lnTo>
                      <a:pt x="7620000" y="222250"/>
                    </a:lnTo>
                    <a:cubicBezTo>
                      <a:pt x="7620000" y="100330"/>
                      <a:pt x="7519670" y="0"/>
                      <a:pt x="7397750" y="0"/>
                    </a:cubicBezTo>
                    <a:lnTo>
                      <a:pt x="222250" y="0"/>
                    </a:lnTo>
                    <a:cubicBezTo>
                      <a:pt x="100330" y="0"/>
                      <a:pt x="0" y="100330"/>
                      <a:pt x="0" y="222250"/>
                    </a:cubicBezTo>
                    <a:lnTo>
                      <a:pt x="0" y="3185592"/>
                    </a:lnTo>
                    <a:cubicBezTo>
                      <a:pt x="0" y="3308783"/>
                      <a:pt x="100330" y="3407842"/>
                      <a:pt x="222250" y="3407842"/>
                    </a:cubicBezTo>
                    <a:lnTo>
                      <a:pt x="3547110" y="3407842"/>
                    </a:lnTo>
                    <a:lnTo>
                      <a:pt x="3808730" y="4045383"/>
                    </a:lnTo>
                    <a:lnTo>
                      <a:pt x="4070350" y="3407842"/>
                    </a:lnTo>
                    <a:lnTo>
                      <a:pt x="7395210" y="3407842"/>
                    </a:lnTo>
                    <a:cubicBezTo>
                      <a:pt x="7519670" y="3409112"/>
                      <a:pt x="7620000" y="3310052"/>
                      <a:pt x="7620000" y="3186862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70778" y="325606"/>
              <a:ext cx="4279566" cy="14504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DM Sans Bold"/>
                </a:rPr>
                <a:t>Johnson &amp; Johnson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28909" y="6039464"/>
            <a:ext cx="3465841" cy="1297204"/>
            <a:chOff x="0" y="0"/>
            <a:chExt cx="4621121" cy="1729605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621121" cy="1729605"/>
              <a:chOff x="0" y="0"/>
              <a:chExt cx="7620000" cy="28520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7620000" cy="2849494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2849494">
                    <a:moveTo>
                      <a:pt x="7620000" y="1990973"/>
                    </a:moveTo>
                    <a:lnTo>
                      <a:pt x="7620000" y="222250"/>
                    </a:lnTo>
                    <a:cubicBezTo>
                      <a:pt x="7620000" y="100330"/>
                      <a:pt x="7519670" y="0"/>
                      <a:pt x="7397750" y="0"/>
                    </a:cubicBezTo>
                    <a:lnTo>
                      <a:pt x="222250" y="0"/>
                    </a:lnTo>
                    <a:cubicBezTo>
                      <a:pt x="100330" y="0"/>
                      <a:pt x="0" y="100330"/>
                      <a:pt x="0" y="222250"/>
                    </a:cubicBezTo>
                    <a:lnTo>
                      <a:pt x="0" y="1989704"/>
                    </a:lnTo>
                    <a:cubicBezTo>
                      <a:pt x="0" y="2112894"/>
                      <a:pt x="100330" y="2211954"/>
                      <a:pt x="222250" y="2211954"/>
                    </a:cubicBezTo>
                    <a:lnTo>
                      <a:pt x="3547110" y="2211954"/>
                    </a:lnTo>
                    <a:lnTo>
                      <a:pt x="3808730" y="2849494"/>
                    </a:lnTo>
                    <a:lnTo>
                      <a:pt x="4070350" y="2211954"/>
                    </a:lnTo>
                    <a:lnTo>
                      <a:pt x="7395210" y="2211954"/>
                    </a:lnTo>
                    <a:cubicBezTo>
                      <a:pt x="7519670" y="2213223"/>
                      <a:pt x="7620000" y="2114164"/>
                      <a:pt x="7620000" y="1990973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70778" y="325606"/>
              <a:ext cx="4279566" cy="7252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DM Sans Bold"/>
                </a:rPr>
                <a:t>J P Morgan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10799" y="1647698"/>
            <a:ext cx="726781" cy="726781"/>
            <a:chOff x="0" y="0"/>
            <a:chExt cx="969042" cy="96904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2011088"/>
            <a:ext cx="6333575" cy="5588016"/>
            <a:chOff x="0" y="0"/>
            <a:chExt cx="8444766" cy="7450688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8444766" cy="7450688"/>
              <a:chOff x="0" y="0"/>
              <a:chExt cx="7620000" cy="672300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620000" cy="672047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6720470">
                    <a:moveTo>
                      <a:pt x="7620000" y="5861949"/>
                    </a:moveTo>
                    <a:lnTo>
                      <a:pt x="7620000" y="222250"/>
                    </a:lnTo>
                    <a:cubicBezTo>
                      <a:pt x="7620000" y="100330"/>
                      <a:pt x="7519670" y="0"/>
                      <a:pt x="7397750" y="0"/>
                    </a:cubicBezTo>
                    <a:lnTo>
                      <a:pt x="222250" y="0"/>
                    </a:lnTo>
                    <a:cubicBezTo>
                      <a:pt x="100330" y="0"/>
                      <a:pt x="0" y="100330"/>
                      <a:pt x="0" y="222250"/>
                    </a:cubicBezTo>
                    <a:lnTo>
                      <a:pt x="0" y="5860679"/>
                    </a:lnTo>
                    <a:cubicBezTo>
                      <a:pt x="0" y="5983869"/>
                      <a:pt x="100330" y="6082929"/>
                      <a:pt x="222250" y="6082929"/>
                    </a:cubicBezTo>
                    <a:lnTo>
                      <a:pt x="3547110" y="6082929"/>
                    </a:lnTo>
                    <a:lnTo>
                      <a:pt x="3808730" y="6720470"/>
                    </a:lnTo>
                    <a:lnTo>
                      <a:pt x="4070350" y="6082929"/>
                    </a:lnTo>
                    <a:lnTo>
                      <a:pt x="7395210" y="6082929"/>
                    </a:lnTo>
                    <a:cubicBezTo>
                      <a:pt x="7519670" y="6084199"/>
                      <a:pt x="7620000" y="5985139"/>
                      <a:pt x="7620000" y="5861949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893578" y="374668"/>
              <a:ext cx="6657610" cy="59980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00"/>
                </a:lnSpc>
              </a:pPr>
              <a:r>
                <a:rPr lang="en-US" sz="8000">
                  <a:solidFill>
                    <a:srgbClr val="FFFFFF"/>
                  </a:solidFill>
                  <a:latin typeface="DM Sans Bold"/>
                </a:rPr>
                <a:t>What makes a model better?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110799" y="4078315"/>
            <a:ext cx="726781" cy="726781"/>
            <a:chOff x="0" y="0"/>
            <a:chExt cx="969042" cy="96904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10799" y="6416295"/>
            <a:ext cx="726781" cy="726781"/>
            <a:chOff x="0" y="0"/>
            <a:chExt cx="969042" cy="969042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3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1176990" y="945282"/>
            <a:ext cx="5709554" cy="2208806"/>
          </a:xfrm>
          <a:custGeom>
            <a:avLst/>
            <a:gdLst/>
            <a:ahLst/>
            <a:cxnLst/>
            <a:rect l="l" t="t" r="r" b="b"/>
            <a:pathLst>
              <a:path w="5709554" h="2208806">
                <a:moveTo>
                  <a:pt x="0" y="0"/>
                </a:moveTo>
                <a:lnTo>
                  <a:pt x="5709554" y="0"/>
                </a:lnTo>
                <a:lnTo>
                  <a:pt x="5709554" y="2208805"/>
                </a:lnTo>
                <a:lnTo>
                  <a:pt x="0" y="2208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176990" y="3531559"/>
            <a:ext cx="5813193" cy="1820293"/>
          </a:xfrm>
          <a:custGeom>
            <a:avLst/>
            <a:gdLst/>
            <a:ahLst/>
            <a:cxnLst/>
            <a:rect l="l" t="t" r="r" b="b"/>
            <a:pathLst>
              <a:path w="5813193" h="1820293">
                <a:moveTo>
                  <a:pt x="0" y="0"/>
                </a:moveTo>
                <a:lnTo>
                  <a:pt x="5813193" y="0"/>
                </a:lnTo>
                <a:lnTo>
                  <a:pt x="5813193" y="1820293"/>
                </a:lnTo>
                <a:lnTo>
                  <a:pt x="0" y="1820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522568" y="5855495"/>
            <a:ext cx="5018400" cy="1848381"/>
          </a:xfrm>
          <a:custGeom>
            <a:avLst/>
            <a:gdLst/>
            <a:ahLst/>
            <a:cxnLst/>
            <a:rect l="l" t="t" r="r" b="b"/>
            <a:pathLst>
              <a:path w="5018400" h="1848381">
                <a:moveTo>
                  <a:pt x="0" y="0"/>
                </a:moveTo>
                <a:lnTo>
                  <a:pt x="5018399" y="0"/>
                </a:lnTo>
                <a:lnTo>
                  <a:pt x="5018399" y="1848381"/>
                </a:lnTo>
                <a:lnTo>
                  <a:pt x="0" y="1848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94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88927" y="117124"/>
          <a:ext cx="14747544" cy="10052754"/>
        </p:xfrm>
        <a:graphic>
          <a:graphicData uri="http://schemas.openxmlformats.org/drawingml/2006/table">
            <a:tbl>
              <a:tblPr/>
              <a:tblGrid>
                <a:gridCol w="2106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6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6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6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6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67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6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50144">
                <a:tc gridSpan="7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ANN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ANN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ANN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ANN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ANN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ANN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ANN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827">
                <a:tc rowSpan="2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Company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ANN (Authors)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ANN (Authors)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ANN (Authors)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ANN (Ours)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ANN (Ours)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ANN (Ours)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827">
                <a:tc vMerge="1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Company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RMSE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MAPE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MBE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RMSE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MAPE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MBE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827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Nike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1.1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1.07%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-0.0522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1.13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1.15%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-0.0101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0144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Goldman Sachs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3.3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1.09%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0.0762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3.44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1.19%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0.5252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5014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J.P. Morgan and Co.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1.28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0.89%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-0.031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1.5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1.02%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-0.318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0144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Johnson &amp; Johnson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1.54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0.70%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-0.0138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2.09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1.23%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1.3427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1827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Pfizer Inc.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0.42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0.77%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-0.0156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0.42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0.81%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DM Sans"/>
                        </a:rPr>
                        <a:t>0.0577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761200" y="385313"/>
          <a:ext cx="14599886" cy="9929009"/>
        </p:xfrm>
        <a:graphic>
          <a:graphicData uri="http://schemas.openxmlformats.org/drawingml/2006/table">
            <a:tbl>
              <a:tblPr/>
              <a:tblGrid>
                <a:gridCol w="2085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5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5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5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5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56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21544">
                <a:tc gridSpan="7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08"/>
                        </a:lnSpc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RF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08"/>
                        </a:lnSpc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RF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08"/>
                        </a:lnSpc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RF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08"/>
                        </a:lnSpc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RF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08"/>
                        </a:lnSpc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RF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08"/>
                        </a:lnSpc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RF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 Comparative</a:t>
                      </a:r>
                      <a:endParaRPr lang="en-US" sz="1100"/>
                    </a:p>
                    <a:p>
                      <a:pPr>
                        <a:lnSpc>
                          <a:spcPts val="4108"/>
                        </a:lnSpc>
                      </a:pPr>
                      <a:r>
                        <a:rPr lang="en-US" sz="2934">
                          <a:solidFill>
                            <a:srgbClr val="001C84"/>
                          </a:solidFill>
                          <a:latin typeface="DM Sans Bold"/>
                        </a:rPr>
                        <a:t>  analysis of RMSE, MAPE and MBE values for RF of authors (A) vs ours (O)</a:t>
                      </a:r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936">
                <a:tc rowSpan="2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Company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RF (Authors)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RF (Authors)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RF (Authors)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RF (Ours)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RF (Ours)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RF (Ours)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853">
                <a:tc vMerge="1"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Company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RMSE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MAPE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MBE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RMSE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MAPE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MBE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853"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Nike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1.29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1.14%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-0.0521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9.44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8.28%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6.1836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1544"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Goldman Sachs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3.4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1.01%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0.0761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9.42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3.24%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-2.4351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6882"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J.P. Morgan and Co.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1.41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0.93%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-0.0313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15.35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11.81%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12.5863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1544"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Johnson &amp; Johnson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1.53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0.75%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-0.0138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9.73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5.66%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7.5587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1853"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Pfizer Inc.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0.43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0.80%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-0.0155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3.58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5.62%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08"/>
                        </a:lnSpc>
                        <a:defRPr/>
                      </a:pPr>
                      <a:r>
                        <a:rPr lang="en-US" sz="2934">
                          <a:solidFill>
                            <a:srgbClr val="000000"/>
                          </a:solidFill>
                          <a:latin typeface="DM Sans"/>
                        </a:rPr>
                        <a:t>2.1082</a:t>
                      </a:r>
                      <a:endParaRPr lang="en-US" sz="1100"/>
                    </a:p>
                  </a:txBody>
                  <a:tcPr marL="66675" marR="66675" marT="66675" marB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8604" y="1846653"/>
            <a:ext cx="726781" cy="726781"/>
            <a:chOff x="0" y="0"/>
            <a:chExt cx="969042" cy="96904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52834" y="1846653"/>
            <a:ext cx="726781" cy="726781"/>
            <a:chOff x="0" y="0"/>
            <a:chExt cx="969042" cy="969042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69042" cy="969042"/>
              <a:chOff x="0" y="0"/>
              <a:chExt cx="6350000" cy="635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61067" y="22501"/>
              <a:ext cx="612070" cy="8478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345"/>
                </a:lnSpc>
                <a:spcBef>
                  <a:spcPct val="0"/>
                </a:spcBef>
              </a:pPr>
              <a:r>
                <a:rPr lang="en-US" sz="3818">
                  <a:solidFill>
                    <a:srgbClr val="FFFFFF"/>
                  </a:solidFill>
                  <a:latin typeface="DM Sans Bold"/>
                </a:rPr>
                <a:t>2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507050" y="2784719"/>
            <a:ext cx="7741335" cy="7035494"/>
          </a:xfrm>
          <a:custGeom>
            <a:avLst/>
            <a:gdLst/>
            <a:ahLst/>
            <a:cxnLst/>
            <a:rect l="l" t="t" r="r" b="b"/>
            <a:pathLst>
              <a:path w="7741335" h="7035494">
                <a:moveTo>
                  <a:pt x="0" y="0"/>
                </a:moveTo>
                <a:lnTo>
                  <a:pt x="7741335" y="0"/>
                </a:lnTo>
                <a:lnTo>
                  <a:pt x="7741335" y="7035494"/>
                </a:lnTo>
                <a:lnTo>
                  <a:pt x="0" y="7035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93" t="-12648" r="-1187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100497" y="2758049"/>
            <a:ext cx="7550344" cy="6853419"/>
          </a:xfrm>
          <a:custGeom>
            <a:avLst/>
            <a:gdLst/>
            <a:ahLst/>
            <a:cxnLst/>
            <a:rect l="l" t="t" r="r" b="b"/>
            <a:pathLst>
              <a:path w="7550344" h="6853419">
                <a:moveTo>
                  <a:pt x="0" y="0"/>
                </a:moveTo>
                <a:lnTo>
                  <a:pt x="7550343" y="0"/>
                </a:lnTo>
                <a:lnTo>
                  <a:pt x="7550343" y="6853419"/>
                </a:lnTo>
                <a:lnTo>
                  <a:pt x="0" y="6853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933" t="-11672" r="-1177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246435" y="488707"/>
            <a:ext cx="5795131" cy="114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en-US" sz="8000">
                <a:solidFill>
                  <a:srgbClr val="001C84"/>
                </a:solidFill>
                <a:latin typeface="DM Sans Bold"/>
              </a:rPr>
              <a:t>Extension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6398" y="1568693"/>
            <a:ext cx="6221800" cy="1216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DM Sans"/>
              </a:rPr>
              <a:t>Training Data:  </a:t>
            </a:r>
          </a:p>
          <a:p>
            <a:pPr marL="0" lvl="0" indent="0"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3131"/>
                </a:solidFill>
                <a:latin typeface="DM Sans"/>
              </a:rPr>
              <a:t>2009-05-05</a:t>
            </a:r>
            <a:r>
              <a:rPr lang="en-US" sz="3499">
                <a:solidFill>
                  <a:srgbClr val="000000"/>
                </a:solidFill>
                <a:latin typeface="DM Sans"/>
              </a:rPr>
              <a:t> to </a:t>
            </a:r>
            <a:r>
              <a:rPr lang="en-US" sz="3499">
                <a:solidFill>
                  <a:srgbClr val="FF3131"/>
                </a:solidFill>
                <a:latin typeface="DM Sans"/>
              </a:rPr>
              <a:t>2020-01-31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50629" y="1595363"/>
            <a:ext cx="5893118" cy="1162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DM Sans"/>
              </a:rPr>
              <a:t>Test Data: 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DM Sans"/>
              </a:rPr>
              <a:t>2020-02-03</a:t>
            </a:r>
            <a:r>
              <a:rPr lang="en-US" sz="3399">
                <a:solidFill>
                  <a:srgbClr val="000000"/>
                </a:solidFill>
                <a:latin typeface="DM Sans"/>
              </a:rPr>
              <a:t> to </a:t>
            </a:r>
            <a:r>
              <a:rPr lang="en-US" sz="3399">
                <a:solidFill>
                  <a:srgbClr val="FF3131"/>
                </a:solidFill>
                <a:latin typeface="DM Sans"/>
              </a:rPr>
              <a:t>2022-04-05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110080" y="3731184"/>
            <a:ext cx="2067840" cy="1412316"/>
            <a:chOff x="0" y="0"/>
            <a:chExt cx="2757120" cy="1883089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2757120" cy="1883089"/>
              <a:chOff x="0" y="0"/>
              <a:chExt cx="7620000" cy="404792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620000" cy="4045383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4045383">
                    <a:moveTo>
                      <a:pt x="7620000" y="3186862"/>
                    </a:moveTo>
                    <a:lnTo>
                      <a:pt x="7620000" y="222250"/>
                    </a:lnTo>
                    <a:cubicBezTo>
                      <a:pt x="7620000" y="100330"/>
                      <a:pt x="7519670" y="0"/>
                      <a:pt x="7397750" y="0"/>
                    </a:cubicBezTo>
                    <a:lnTo>
                      <a:pt x="222250" y="0"/>
                    </a:lnTo>
                    <a:cubicBezTo>
                      <a:pt x="100330" y="0"/>
                      <a:pt x="0" y="100330"/>
                      <a:pt x="0" y="222250"/>
                    </a:cubicBezTo>
                    <a:lnTo>
                      <a:pt x="0" y="3185592"/>
                    </a:lnTo>
                    <a:cubicBezTo>
                      <a:pt x="0" y="3308783"/>
                      <a:pt x="100330" y="3407842"/>
                      <a:pt x="222250" y="3407842"/>
                    </a:cubicBezTo>
                    <a:lnTo>
                      <a:pt x="3547110" y="3407842"/>
                    </a:lnTo>
                    <a:lnTo>
                      <a:pt x="3808730" y="4045383"/>
                    </a:lnTo>
                    <a:lnTo>
                      <a:pt x="4070350" y="3407842"/>
                    </a:lnTo>
                    <a:lnTo>
                      <a:pt x="7395210" y="3407842"/>
                    </a:lnTo>
                    <a:cubicBezTo>
                      <a:pt x="7519670" y="3409112"/>
                      <a:pt x="7620000" y="3310052"/>
                      <a:pt x="7620000" y="3186862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892" y="249769"/>
              <a:ext cx="2553336" cy="1112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13"/>
                </a:lnSpc>
              </a:pPr>
              <a:r>
                <a:rPr lang="en-US" sz="2761">
                  <a:solidFill>
                    <a:srgbClr val="FFFFFF"/>
                  </a:solidFill>
                  <a:latin typeface="DM Sans Bold"/>
                </a:rPr>
                <a:t>Goldman Sachs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4015" y="1098696"/>
            <a:ext cx="9301988" cy="7682541"/>
            <a:chOff x="0" y="0"/>
            <a:chExt cx="12402651" cy="1024338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2402651" cy="10243388"/>
              <a:chOff x="0" y="0"/>
              <a:chExt cx="7620000" cy="807990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620000" cy="8077369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8077369">
                    <a:moveTo>
                      <a:pt x="7620000" y="7218849"/>
                    </a:moveTo>
                    <a:lnTo>
                      <a:pt x="7620000" y="222250"/>
                    </a:lnTo>
                    <a:cubicBezTo>
                      <a:pt x="7620000" y="100330"/>
                      <a:pt x="7519670" y="0"/>
                      <a:pt x="7397750" y="0"/>
                    </a:cubicBezTo>
                    <a:lnTo>
                      <a:pt x="222250" y="0"/>
                    </a:lnTo>
                    <a:cubicBezTo>
                      <a:pt x="100330" y="0"/>
                      <a:pt x="0" y="100330"/>
                      <a:pt x="0" y="222250"/>
                    </a:cubicBezTo>
                    <a:lnTo>
                      <a:pt x="0" y="7217579"/>
                    </a:lnTo>
                    <a:cubicBezTo>
                      <a:pt x="0" y="7340769"/>
                      <a:pt x="100330" y="7439829"/>
                      <a:pt x="222250" y="7439829"/>
                    </a:cubicBezTo>
                    <a:lnTo>
                      <a:pt x="3547110" y="7439829"/>
                    </a:lnTo>
                    <a:lnTo>
                      <a:pt x="3808730" y="8077369"/>
                    </a:lnTo>
                    <a:lnTo>
                      <a:pt x="4070350" y="7439829"/>
                    </a:lnTo>
                    <a:lnTo>
                      <a:pt x="7395210" y="7439829"/>
                    </a:lnTo>
                    <a:cubicBezTo>
                      <a:pt x="7519670" y="7441099"/>
                      <a:pt x="7620000" y="7342039"/>
                      <a:pt x="7620000" y="7218849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1312380" y="438052"/>
              <a:ext cx="9777891" cy="8572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066"/>
                </a:lnSpc>
              </a:pPr>
              <a:r>
                <a:rPr lang="en-US" sz="9151">
                  <a:solidFill>
                    <a:srgbClr val="FFFFFF"/>
                  </a:solidFill>
                  <a:latin typeface="DM Sans Bold"/>
                </a:rPr>
                <a:t>Why would anyone want to predict stock prices?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6960137" y="3529087"/>
          <a:ext cx="9206240" cy="5934074"/>
        </p:xfrm>
        <a:graphic>
          <a:graphicData uri="http://schemas.openxmlformats.org/drawingml/2006/table">
            <a:tbl>
              <a:tblPr/>
              <a:tblGrid>
                <a:gridCol w="3568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6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1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967"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 u="sng">
                          <a:solidFill>
                            <a:srgbClr val="000000"/>
                          </a:solidFill>
                          <a:latin typeface="DM Sans Bold"/>
                        </a:rPr>
                        <a:t>Company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 u="sng">
                          <a:solidFill>
                            <a:srgbClr val="000000"/>
                          </a:solidFill>
                          <a:latin typeface="DM Sans Bold"/>
                        </a:rPr>
                        <a:t>ANN ($)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 u="sng">
                          <a:solidFill>
                            <a:srgbClr val="000000"/>
                          </a:solidFill>
                          <a:latin typeface="DM Sans Bold"/>
                        </a:rPr>
                        <a:t>RF ($)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5393"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>
                          <a:solidFill>
                            <a:srgbClr val="000000"/>
                          </a:solidFill>
                          <a:latin typeface="DM Sans"/>
                        </a:rPr>
                        <a:t>Nike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249"/>
                        </a:lnSpc>
                        <a:defRPr/>
                      </a:pPr>
                      <a:r>
                        <a:rPr lang="en-US" sz="3035">
                          <a:solidFill>
                            <a:srgbClr val="000000"/>
                          </a:solidFill>
                          <a:latin typeface="DM Sans Bold"/>
                        </a:rPr>
                        <a:t>1270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>
                          <a:solidFill>
                            <a:srgbClr val="000000"/>
                          </a:solidFill>
                          <a:latin typeface="DM Sans"/>
                        </a:rPr>
                        <a:t>940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5393"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>
                          <a:solidFill>
                            <a:srgbClr val="000000"/>
                          </a:solidFill>
                          <a:latin typeface="DM Sans"/>
                        </a:rPr>
                        <a:t>Goldman Sachs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>
                          <a:solidFill>
                            <a:srgbClr val="000000"/>
                          </a:solidFill>
                          <a:latin typeface="DM Sans"/>
                        </a:rPr>
                        <a:t>780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249"/>
                        </a:lnSpc>
                        <a:defRPr/>
                      </a:pPr>
                      <a:r>
                        <a:rPr lang="en-US" sz="3035">
                          <a:solidFill>
                            <a:srgbClr val="000000"/>
                          </a:solidFill>
                          <a:latin typeface="DM Sans Bold"/>
                        </a:rPr>
                        <a:t>860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5393"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>
                          <a:solidFill>
                            <a:srgbClr val="000000"/>
                          </a:solidFill>
                          <a:latin typeface="DM Sans"/>
                        </a:rPr>
                        <a:t>J.P. Morgan and Co.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249"/>
                        </a:lnSpc>
                        <a:defRPr/>
                      </a:pPr>
                      <a:r>
                        <a:rPr lang="en-US" sz="3035">
                          <a:solidFill>
                            <a:srgbClr val="000000"/>
                          </a:solidFill>
                          <a:latin typeface="DM Sans Bold"/>
                        </a:rPr>
                        <a:t>1100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>
                          <a:solidFill>
                            <a:srgbClr val="000000"/>
                          </a:solidFill>
                          <a:latin typeface="DM Sans"/>
                        </a:rPr>
                        <a:t>940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5393"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>
                          <a:solidFill>
                            <a:srgbClr val="000000"/>
                          </a:solidFill>
                          <a:latin typeface="DM Sans"/>
                        </a:rPr>
                        <a:t>Johnson &amp; Johnson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249"/>
                        </a:lnSpc>
                        <a:defRPr/>
                      </a:pPr>
                      <a:r>
                        <a:rPr lang="en-US" sz="3035">
                          <a:solidFill>
                            <a:srgbClr val="000000"/>
                          </a:solidFill>
                          <a:latin typeface="DM Sans Bold"/>
                        </a:rPr>
                        <a:t>990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>
                          <a:solidFill>
                            <a:srgbClr val="000000"/>
                          </a:solidFill>
                          <a:latin typeface="DM Sans"/>
                        </a:rPr>
                        <a:t>910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4535"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>
                          <a:solidFill>
                            <a:srgbClr val="000000"/>
                          </a:solidFill>
                          <a:latin typeface="DM Sans"/>
                        </a:rPr>
                        <a:t>Pfizer Inc.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389"/>
                        </a:lnSpc>
                        <a:defRPr/>
                      </a:pPr>
                      <a:r>
                        <a:rPr lang="en-US" sz="3135">
                          <a:solidFill>
                            <a:srgbClr val="000000"/>
                          </a:solidFill>
                          <a:latin typeface="DM Sans Bold"/>
                        </a:rPr>
                        <a:t>950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829"/>
                        </a:lnSpc>
                        <a:defRPr/>
                      </a:pPr>
                      <a:r>
                        <a:rPr lang="en-US" sz="2735">
                          <a:solidFill>
                            <a:srgbClr val="000000"/>
                          </a:solidFill>
                          <a:latin typeface="DM Sans"/>
                        </a:rPr>
                        <a:t>870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6246435" y="488707"/>
            <a:ext cx="5795131" cy="114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800"/>
              </a:lnSpc>
            </a:pPr>
            <a:r>
              <a:rPr lang="en-US" sz="8000">
                <a:solidFill>
                  <a:srgbClr val="001C84"/>
                </a:solidFill>
                <a:latin typeface="DM Sans Bold"/>
              </a:rPr>
              <a:t>Extension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94464" y="1682993"/>
            <a:ext cx="14899071" cy="2595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113"/>
              </a:lnSpc>
            </a:pPr>
            <a:r>
              <a:rPr lang="en-US" sz="4648">
                <a:solidFill>
                  <a:srgbClr val="001C84"/>
                </a:solidFill>
                <a:latin typeface="DM Sans Bold"/>
              </a:rPr>
              <a:t>- Buy if stock increases for 4 consecutive days</a:t>
            </a:r>
          </a:p>
          <a:p>
            <a:pPr>
              <a:lnSpc>
                <a:spcPts val="5113"/>
              </a:lnSpc>
            </a:pPr>
            <a:r>
              <a:rPr lang="en-US" sz="4648">
                <a:solidFill>
                  <a:srgbClr val="001C84"/>
                </a:solidFill>
                <a:latin typeface="DM Sans Bold"/>
              </a:rPr>
              <a:t>- Sell if stock decreases days (and we've made a profit)</a:t>
            </a:r>
          </a:p>
          <a:p>
            <a:pPr>
              <a:lnSpc>
                <a:spcPts val="5113"/>
              </a:lnSpc>
            </a:pPr>
            <a:endParaRPr lang="en-US" sz="4648">
              <a:solidFill>
                <a:srgbClr val="001C84"/>
              </a:solidFill>
              <a:latin typeface="DM Sans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0" y="5307016"/>
            <a:ext cx="6333575" cy="2314552"/>
            <a:chOff x="0" y="0"/>
            <a:chExt cx="8444766" cy="3086069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8444766" cy="3086069"/>
              <a:chOff x="0" y="0"/>
              <a:chExt cx="7620000" cy="278466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620000" cy="2782126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2782126">
                    <a:moveTo>
                      <a:pt x="7620000" y="1923605"/>
                    </a:moveTo>
                    <a:lnTo>
                      <a:pt x="7620000" y="222250"/>
                    </a:lnTo>
                    <a:cubicBezTo>
                      <a:pt x="7620000" y="100330"/>
                      <a:pt x="7519670" y="0"/>
                      <a:pt x="7397750" y="0"/>
                    </a:cubicBezTo>
                    <a:lnTo>
                      <a:pt x="222250" y="0"/>
                    </a:lnTo>
                    <a:cubicBezTo>
                      <a:pt x="100330" y="0"/>
                      <a:pt x="0" y="100330"/>
                      <a:pt x="0" y="222250"/>
                    </a:cubicBezTo>
                    <a:lnTo>
                      <a:pt x="0" y="1922336"/>
                    </a:lnTo>
                    <a:cubicBezTo>
                      <a:pt x="0" y="2045526"/>
                      <a:pt x="100330" y="2144586"/>
                      <a:pt x="222250" y="2144586"/>
                    </a:cubicBezTo>
                    <a:lnTo>
                      <a:pt x="3547110" y="2144586"/>
                    </a:lnTo>
                    <a:lnTo>
                      <a:pt x="3808730" y="2782126"/>
                    </a:lnTo>
                    <a:lnTo>
                      <a:pt x="4070350" y="2144586"/>
                    </a:lnTo>
                    <a:lnTo>
                      <a:pt x="7395210" y="2144586"/>
                    </a:lnTo>
                    <a:cubicBezTo>
                      <a:pt x="7519670" y="2145855"/>
                      <a:pt x="7620000" y="2046795"/>
                      <a:pt x="7620000" y="1923605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893578" y="346093"/>
              <a:ext cx="6657610" cy="16620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40"/>
                </a:lnSpc>
              </a:pPr>
              <a:r>
                <a:rPr lang="en-US" sz="4400">
                  <a:solidFill>
                    <a:srgbClr val="FFFFFF"/>
                  </a:solidFill>
                  <a:latin typeface="DM Sans Bold"/>
                </a:rPr>
                <a:t>Starting Amount: $1000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25449" y="5368795"/>
            <a:ext cx="3513792" cy="1866609"/>
            <a:chOff x="0" y="0"/>
            <a:chExt cx="4685057" cy="248881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685057" cy="2488812"/>
              <a:chOff x="0" y="0"/>
              <a:chExt cx="7620000" cy="404792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620000" cy="4045383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4045383">
                    <a:moveTo>
                      <a:pt x="7620000" y="3186862"/>
                    </a:moveTo>
                    <a:lnTo>
                      <a:pt x="7620000" y="222250"/>
                    </a:lnTo>
                    <a:cubicBezTo>
                      <a:pt x="7620000" y="100330"/>
                      <a:pt x="7519670" y="0"/>
                      <a:pt x="7397750" y="0"/>
                    </a:cubicBezTo>
                    <a:lnTo>
                      <a:pt x="222250" y="0"/>
                    </a:lnTo>
                    <a:cubicBezTo>
                      <a:pt x="100330" y="0"/>
                      <a:pt x="0" y="100330"/>
                      <a:pt x="0" y="222250"/>
                    </a:cubicBezTo>
                    <a:lnTo>
                      <a:pt x="0" y="3185592"/>
                    </a:lnTo>
                    <a:cubicBezTo>
                      <a:pt x="0" y="3308783"/>
                      <a:pt x="100330" y="3407842"/>
                      <a:pt x="222250" y="3407842"/>
                    </a:cubicBezTo>
                    <a:lnTo>
                      <a:pt x="3547110" y="3407842"/>
                    </a:lnTo>
                    <a:lnTo>
                      <a:pt x="3808730" y="4045383"/>
                    </a:lnTo>
                    <a:lnTo>
                      <a:pt x="4070350" y="3407842"/>
                    </a:lnTo>
                    <a:lnTo>
                      <a:pt x="7395210" y="3407842"/>
                    </a:lnTo>
                    <a:cubicBezTo>
                      <a:pt x="7519670" y="3409112"/>
                      <a:pt x="7620000" y="3310052"/>
                      <a:pt x="7620000" y="3186862"/>
                    </a:cubicBezTo>
                    <a:close/>
                  </a:path>
                </a:pathLst>
              </a:custGeom>
              <a:solidFill>
                <a:srgbClr val="001C84"/>
              </a:solidFill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362947" y="381703"/>
              <a:ext cx="3959163" cy="12831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DM Sans"/>
                </a:rPr>
                <a:t>Have a great</a:t>
              </a:r>
            </a:p>
            <a:p>
              <a:pPr marL="0" lvl="0" indent="0"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FFFFFF"/>
                  </a:solidFill>
                  <a:latin typeface="DM Sans"/>
                </a:rPr>
                <a:t>day</a:t>
              </a:r>
              <a:r>
                <a:rPr lang="en-US" sz="2800" u="none">
                  <a:solidFill>
                    <a:srgbClr val="FFFFFF"/>
                  </a:solidFill>
                  <a:latin typeface="DM Sans"/>
                </a:rPr>
                <a:t> ahead.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48759" y="3327821"/>
            <a:ext cx="6155435" cy="390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5000"/>
              </a:lnSpc>
            </a:pPr>
            <a:r>
              <a:rPr lang="en-US" sz="15000" spc="-150">
                <a:solidFill>
                  <a:srgbClr val="000000"/>
                </a:solidFill>
                <a:latin typeface="DM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</Words>
  <Application>Microsoft Office PowerPoint</Application>
  <PresentationFormat>Custom</PresentationFormat>
  <Paragraphs>178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DM Sans</vt:lpstr>
      <vt:lpstr>Calibri</vt:lpstr>
      <vt:lpstr>Arial</vt:lpstr>
      <vt:lpstr>Bodoni FLF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Try Magic Design</dc:title>
  <dc:creator>Debargha Som</dc:creator>
  <cp:lastModifiedBy>Debargha Som</cp:lastModifiedBy>
  <cp:revision>3</cp:revision>
  <dcterms:created xsi:type="dcterms:W3CDTF">2006-08-16T00:00:00Z</dcterms:created>
  <dcterms:modified xsi:type="dcterms:W3CDTF">2026-07-24T04:54:27Z</dcterms:modified>
  <dc:identifier>DAGCNojBrJ0</dc:identifier>
</cp:coreProperties>
</file>